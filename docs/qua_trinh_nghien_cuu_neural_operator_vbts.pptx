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237744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000" b="1">
                <a:solidFill>
                  <a:srgbClr val="0097A7"/>
                </a:solidFill>
                <a:latin typeface="Aptos"/>
              </a:rPr>
              <a:t>PROCESS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6537960" cy="11704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600" b="1">
                <a:solidFill>
                  <a:srgbClr val="122137"/>
                </a:solidFill>
                <a:latin typeface="Aptos"/>
              </a:rPr>
              <a:t>Quá trình thực hiện nghiên cứu</a:t>
            </a:r>
            <a:br/>
            <a:r>
              <a:rPr sz="2600" b="1">
                <a:solidFill>
                  <a:srgbClr val="122137"/>
                </a:solidFill>
                <a:latin typeface="Aptos"/>
              </a:rPr>
              <a:t>Neural Operator VBTS theo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84831"/>
            <a:ext cx="685800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0">
                <a:solidFill>
                  <a:srgbClr val="5C6C7E"/>
                </a:solidFill>
                <a:latin typeface="Aptos"/>
              </a:rPr>
              <a:t>Differentiable Neural-Operator Surrogate for Vision-Based Tactile Sensing and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83464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90779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FINAL 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3639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2520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1985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corrected-BC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83464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90779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MAIN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313639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20639B"/>
                </a:solidFill>
                <a:latin typeface="Aptos"/>
              </a:rPr>
              <a:t>LR-FNO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41985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field-to-field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283464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290779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313639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0.0606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4" y="341985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rel-L2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283464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90779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13639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29,182x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1985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vs single IPC 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75488"/>
            <a:ext cx="3666744" cy="20665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t_vs_fno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502920"/>
            <a:ext cx="3611880" cy="20116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818120" y="3886200"/>
            <a:ext cx="3456432" cy="20208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delity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3913632"/>
            <a:ext cx="3401568" cy="1965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12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Roadmap theo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Luồng nghiên cứu: chọn ground truth -&gt; học operator -&gt; downstream -&gt; audit vật lý -&gt; mở rộng hình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12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1083563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661"/>
                <a:gridCol w="2457567"/>
                <a:gridCol w="4691720"/>
                <a:gridCol w="2792690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Phase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Mục tiêu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Việc làm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Đầu ra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Khảo sát khả thi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scale gel, mesh, eps, marker sampling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chọn cấu hình chạy production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Sinh ground truth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IPC/UIPC corrected-BC, K&lt;=5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dataset 2520 frame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LR-FNO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operator field-to-field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model chính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P3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Benchmark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RQ1-RQ3, baselines, multiseed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headline accuracy/speed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autograd vs 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sample efficiency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Sensor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marker renderer + image inverse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render o LR-FNO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Env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one-step tactile environment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gradient end-to-end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P7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BC audit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rigid-shift root cause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reground corrected-BC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Geometry-OOD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zero/few-shot 6 shapes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scope + mitigation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7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Khảo sát realistic geometry và ổn định số trước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0: Chọn cấu hình mô phỏng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Từ gel lớn/solver cũ sang thin-gel realistic và marker sampling ổn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" y="1764792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Thiết kế vật lý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Gel representative: 20 x 20 x 3 mm.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Marker grid 32 x 32 trên top surface.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Structured tetra mesh; production chọn res24.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764792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Solver knobs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eps_velocity = 2.5e-5.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d_hat = 1e-4; contact resistance = 1e9.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velocity_tol tightened để giảm stochasticity.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7647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Nearest-neighbor top markers gây nhiễu theo mesh.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Chuyển sang bilinear marker sampling.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Provenance lưu vào NPZ để trace downstream.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14400" y="4251960"/>
          <a:ext cx="1028699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058"/>
                <a:gridCol w="4538382"/>
                <a:gridCol w="3731558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Gate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Kết quả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Quyết định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res20 -&gt; res24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~12% drift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res20 quá coarse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res24 -&gt; res28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tangential 0.95%, normal 1.18%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res24 đạt plateau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K=3 smoke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tangential noise ~1-2%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đủ launch sweep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0: Eps-axis và 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Bằng chứng chọn eps_velocity nhỏ hơn cấu hình ban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5303519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127"/>
                <a:gridCol w="1607127"/>
                <a:gridCol w="2089265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Eps step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Tangential change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Ý nghĩa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0.001 -&gt; 0.0005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29.21%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quá thô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0.0005 -&gt; 0.00025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19.14%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chưa ổn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0.00025 -&gt; 0.0001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10.27%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còn drift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0.0001 -&gt; 0.00005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4.97%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gần hội tụ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0.00005 -&gt; 0.000025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1.54%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chọn production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691640"/>
            <a:ext cx="4754880" cy="269748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7104" y="185623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984248"/>
            <a:ext cx="44622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Smoke production-shaped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350008"/>
            <a:ext cx="4462272" cy="19476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Một frame random realistic: depth 0.614 mm, partial-slip.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K=3 replicate noise: tangential 1.02%, normal 0.10%.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Mean single solve ~11.8 s; K=3 target ~35.4 s.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Kết luận: đủ ổn để chạy production, không overwrite GT cũ.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3784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" y="4965192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5093208"/>
            <a:ext cx="1008583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Artifact chính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5458968"/>
            <a:ext cx="10085832" cy="731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data/uipc/conv_realistic_eps_axis_vtol001/convergence_report.json; data/uipc/realistic_phase0/chosen_eps_regimes; infra/gen_uipc_sweep.sh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63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Sinh IPC/UIPC ground truth realistic và corrected-BC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1: Production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Final dataset dùng cho paper và toàn bộ downstream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20639B"/>
                </a:solidFill>
                <a:latin typeface="Aptos"/>
              </a:rPr>
              <a:t>2520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3113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2120 train / 400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4592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71907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RAW SOLVES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194767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12,600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23113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63 x 40 x K=5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164592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171907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194767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res24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23113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3125 verts, 13824 tets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64592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3" y="171907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MARKER GRID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3" y="194767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32 x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3" y="223113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bilinear sampling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47504" y="1645920"/>
            <a:ext cx="15087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1719072"/>
            <a:ext cx="12893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1947672"/>
            <a:ext cx="128930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AB4742"/>
                </a:solidFill>
                <a:latin typeface="Aptos"/>
              </a:rPr>
              <a:t>fixed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231136"/>
            <a:ext cx="12893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bottom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68680" y="2880360"/>
          <a:ext cx="507491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718"/>
                <a:gridCol w="1540600"/>
                <a:gridCol w="154060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All frames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Test frames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425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stick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712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113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partial-slip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895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full-slip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488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400800" y="2907792"/>
            <a:ext cx="448056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47104" y="3072384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200400"/>
            <a:ext cx="41879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Dataset source of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3566160"/>
            <a:ext cx="4187952" cy="14904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data/uipc/shear_res24_avg_swept_REALISTIC_BC.npz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Provenance: gel_res, eps_velocity, velocity_tol, marker_sampling, solve_time_s.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Downstream JSON đều trỏ về gt_path này.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1: Robust averaging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UIPC không bitwise-repeatable, nên target được lọc theo replicate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566927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735"/>
                <a:gridCol w="1277584"/>
                <a:gridCol w="319396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Kept K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Frames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Ghi chú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1397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ổn định nhất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318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lọc 1 outlier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331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noise trung bình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474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thường ở full-slip khó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69164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176479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FULL-SLIP UNIFORM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99339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22.0%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27685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mean energy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69164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0888" y="176479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P95 UNIFORM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199339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27.0%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27685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old soft-BC ~99.8%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903720" y="2971800"/>
          <a:ext cx="452627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76"/>
                <a:gridCol w="2600203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Tangential rep-noise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1.4%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stick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2.0%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3.5%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full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4.4%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77240" y="4800600"/>
            <a:ext cx="10652760" cy="82296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" y="49651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5093208"/>
            <a:ext cx="103601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Ý nghĩa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458968"/>
            <a:ext cx="10360152" cy="731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Phase 1 biến solver stochastic thành target đủ sạch cho operator learning, đồng thời giữ disclosure noise trong Limitations.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84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Xây LR-FNO field-to-field surrogate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2: Neural Operator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Học ánh xạ giữa các trường/hàm, không chỉ hồi quy từng điểm riêng lẻ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04698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61872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80744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99616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8488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112264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1872" y="2112264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0744" y="2112264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99616" y="2112264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12264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231136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1872" y="2231136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80744" y="2231136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99616" y="2231136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18488" y="2231136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2350008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61872" y="2350008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80744" y="2350008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99616" y="2350008"/>
            <a:ext cx="97475" cy="97475"/>
          </a:xfrm>
          <a:prstGeom prst="rect">
            <a:avLst/>
          </a:prstGeom>
          <a:solidFill>
            <a:srgbClr val="C675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18488" y="2350008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61872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80744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99616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18488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2697480"/>
            <a:ext cx="10972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5C6C7E"/>
                </a:solidFill>
                <a:latin typeface="Aptos"/>
              </a:rPr>
              <a:t>input field a(x)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212848"/>
            <a:ext cx="50292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1874519"/>
            <a:ext cx="1828800" cy="749808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36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1984248"/>
            <a:ext cx="16824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Neural Operator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2240279"/>
            <a:ext cx="1645920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Gθ: a → 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6048" y="2212848"/>
            <a:ext cx="50292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60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42432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61304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0176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9048" y="1993392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23560" y="2112264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42432" y="2112264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61304" y="2112264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0176" y="2112264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9048" y="2112264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23560" y="2231136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42432" y="2231136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61304" y="2231136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80176" y="2231136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99048" y="2231136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23560" y="2350008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42432" y="2350008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61304" y="2350008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0176" y="2350008"/>
            <a:ext cx="97475" cy="97475"/>
          </a:xfrm>
          <a:prstGeom prst="rect">
            <a:avLst/>
          </a:prstGeom>
          <a:solidFill>
            <a:srgbClr val="20639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99048" y="2350008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23560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42432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1304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80176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9048" y="2468880"/>
            <a:ext cx="97475" cy="97475"/>
          </a:xfrm>
          <a:prstGeom prst="rect">
            <a:avLst/>
          </a:prstGeom>
          <a:solidFill>
            <a:srgbClr val="E0EA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13832" y="2697480"/>
            <a:ext cx="1143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50" b="1">
                <a:solidFill>
                  <a:srgbClr val="5C6C7E"/>
                </a:solidFill>
                <a:latin typeface="Aptos"/>
              </a:rPr>
              <a:t>output field u(x)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1874519"/>
            <a:ext cx="1417320" cy="749808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88352" y="1984248"/>
            <a:ext cx="127101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40" b="1">
                <a:solidFill>
                  <a:srgbClr val="122137"/>
                </a:solidFill>
                <a:latin typeface="Aptos"/>
              </a:rPr>
              <a:t>Train offline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0" y="2240279"/>
            <a:ext cx="1234440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IPC/UIPC pairs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7968" y="221284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72600" y="1874519"/>
            <a:ext cx="1417320" cy="749808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C67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45752" y="1984248"/>
            <a:ext cx="127101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940" b="1">
                <a:solidFill>
                  <a:srgbClr val="122137"/>
                </a:solidFill>
                <a:latin typeface="Aptos"/>
              </a:rPr>
              <a:t>Infer online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64040" y="2240279"/>
            <a:ext cx="1234440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ms latency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8680" y="3703320"/>
            <a:ext cx="324612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14983" y="3867911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4983" y="399592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Khác MLP local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3" y="4361688"/>
            <a:ext cx="2953512" cy="6675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MLP dự đoán từng điểm dễ bỏ mất ngữ cảnh toàn cục.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Neural operator học toàn bộ trường → toàn bộ trường.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34840" y="3703320"/>
            <a:ext cx="324612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81144" y="3867911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81144" y="399592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Vì sao hợp với VBTS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81144" y="4361688"/>
            <a:ext cx="2953512" cy="6675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Gel bonded có đáp ứng đàn hồi non-local.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Một contact cục bộ làm dịch chuyển cả lân cận.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01000" y="3703320"/>
            <a:ext cx="324612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47304" y="3867911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47304" y="399592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Vai trò trong nghiên cứu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47304" y="4361688"/>
            <a:ext cx="2953512" cy="6675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Amortize solver cost: FEM/IPC sinh data offline.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Surrogate frozen dùng cho control/sensor/env.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2: Kiến trúc FNO trunk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Fourier Neural Operator dùng spectral convolution để học kernel toàn cục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1430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9966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79"/>
            <a:ext cx="96012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a(x): contact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11430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1984248"/>
            <a:ext cx="9966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40279"/>
            <a:ext cx="96012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1x1 conv / MLP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to latent 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874519"/>
            <a:ext cx="11430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1984248"/>
            <a:ext cx="9966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FFT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40279"/>
            <a:ext cx="96012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spatial field →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Fourier modes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1874519"/>
            <a:ext cx="1234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67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1984248"/>
            <a:ext cx="108813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Low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240279"/>
            <a:ext cx="105156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keep k modes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learn R_theta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874519"/>
            <a:ext cx="123444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36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1984248"/>
            <a:ext cx="108813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IFFT +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2240279"/>
            <a:ext cx="105156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global spectral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+ pointwise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874519"/>
            <a:ext cx="11430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1984248"/>
            <a:ext cx="9966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Activation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240279"/>
            <a:ext cx="96012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GELU / stack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L 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185415"/>
            <a:ext cx="256032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1874519"/>
            <a:ext cx="114300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4392" y="1984248"/>
            <a:ext cx="9966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2137"/>
                </a:solidFill>
                <a:latin typeface="Aptos"/>
              </a:rPr>
              <a:t>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240279"/>
            <a:ext cx="960120" cy="4297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u_x,u_y,u_z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marker field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01568" y="3127248"/>
            <a:ext cx="4617720" cy="1051560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273552"/>
            <a:ext cx="4251960" cy="21945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22137"/>
                </a:solidFill>
                <a:latin typeface="Aptos"/>
              </a:rPr>
              <a:t>FNO layer: v'(x) = σ( F⁻¹( Rθ · F(v) ) + Wv 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584448"/>
            <a:ext cx="3977639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5C6C7E"/>
                </a:solidFill>
                <a:latin typeface="Aptos"/>
              </a:rPr>
              <a:t>Rθ học global kernel trong miền tần số; W giữ biến đổi local/pointwise.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572000"/>
            <a:ext cx="3154680" cy="1261872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" y="47365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" y="4864608"/>
            <a:ext cx="28620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Điểm mạnh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" y="5230368"/>
            <a:ext cx="2862072" cy="512063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Receptive field toàn cục ngay trong mỗi spectral layer.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Rất hợp với response non-local của gel.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26280" y="4572000"/>
            <a:ext cx="3154680" cy="1261872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72584" y="473659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2584" y="4864608"/>
            <a:ext cx="28620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Điểm yếu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2584" y="5230368"/>
            <a:ext cx="2862072" cy="512063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Low modes làm trơn chi tiết near-contact.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Cần refinement để bắt biên/sắc thái cục bộ.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572000"/>
            <a:ext cx="2697480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5904" y="4736592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4864608"/>
            <a:ext cx="24048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Trong deck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4" y="5230368"/>
            <a:ext cx="2404872" cy="512063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FNO trunk là ablation và nền cho LR-FNO.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2: Kiến trúc LR-FNO đề xuất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Locally Refined FNO = global spectral trunk + local refinement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32588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117957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Input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79"/>
            <a:ext cx="114300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depth + shear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+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103120"/>
            <a:ext cx="292608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17320"/>
            <a:ext cx="1965960" cy="731520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527048"/>
            <a:ext cx="181965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Global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8308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FNO spectral trunk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captures non-local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743200"/>
            <a:ext cx="1965960" cy="73152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36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852928"/>
            <a:ext cx="181965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Local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108960"/>
            <a:ext cx="1783080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2-layer conv stem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keeps near-contact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719072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017520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2057400"/>
            <a:ext cx="160020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6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2167128"/>
            <a:ext cx="145389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Fuse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423160"/>
            <a:ext cx="14173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concat trunk +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local + raw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359152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057400"/>
            <a:ext cx="1783080" cy="822960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C67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2167128"/>
            <a:ext cx="163677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Refinement 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2423160"/>
            <a:ext cx="16002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small conv head</a:t>
            </a:r>
            <a:br/>
            <a:r>
              <a:rPr sz="730" b="0">
                <a:solidFill>
                  <a:srgbClr val="5C6C7E"/>
                </a:solidFill>
                <a:latin typeface="Aptos"/>
              </a:rPr>
              <a:t>corrects local residual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359152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057400"/>
            <a:ext cx="123444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2167128"/>
            <a:ext cx="1088136" cy="21031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22137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423160"/>
            <a:ext cx="105156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730" b="0">
                <a:solidFill>
                  <a:srgbClr val="5C6C7E"/>
                </a:solidFill>
                <a:latin typeface="Aptos"/>
              </a:rPr>
              <a:t>u_x,u_y,u_z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14400" y="4160520"/>
          <a:ext cx="4892039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98"/>
                <a:gridCol w="3198641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Vai trò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FNO trunk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global / non-local elastic response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Local stem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near-contact texture and sharp gradients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Refinement head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residual correction with small parameter cost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355080" y="4160520"/>
          <a:ext cx="4526279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380"/>
                <a:gridCol w="2503899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Kết quả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5-seed rel-L2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0.0590 +/- 0.0014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vs FNO trunk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wins 5/5 seeds, t=4.72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+3.3% params, lower fps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2: Field-to-field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Bài toán được đặt là học toán tử contact field -&gt; marker displacement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070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240280"/>
            <a:ext cx="1600200" cy="34747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Contact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249424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240280"/>
            <a:ext cx="1600200" cy="347472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FNO spectral trunk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249424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2240280"/>
            <a:ext cx="1600200" cy="347472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Local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2249424"/>
            <a:ext cx="502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240280"/>
            <a:ext cx="1600200" cy="347472"/>
          </a:xfrm>
          <a:prstGeom prst="round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Marker displacement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324612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" y="3822191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95020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315968"/>
            <a:ext cx="2953512" cy="7589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Indentation profile.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Tangential-drive channel masked to contact.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Physical params R, mu, 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24612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81144" y="3822191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395020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Why FNO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315968"/>
            <a:ext cx="2953512" cy="7589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Gel response is non-local.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Spectral kernel sees global context.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Per-point local MLP collapses on slip.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57600"/>
            <a:ext cx="324612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3822191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3950208"/>
            <a:ext cx="29535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Why 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4315968"/>
            <a:ext cx="2953512" cy="7589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Local stem captures near-contact sharpness.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Small refinement head.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Chosen by multiseed 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2: Model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LR-FNO được chọn bằng five-seed benchmark, không chỉ seed-0 peak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106070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872740"/>
                <a:gridCol w="1546860"/>
                <a:gridCol w="1767840"/>
                <a:gridCol w="220980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rel-L2 mean/std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dir deg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fps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paired t vs FNO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U-Net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0.0890 +/- 0.0067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2.38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19422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-2.16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FNO trunk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0.0780 +/- 0.0081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1.83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7996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---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U-FNO-style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0.0634 +/- 0.0113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1.63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4784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+1.85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LR-FNO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0.0590 +/- 0.0014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1.50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5676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+4.72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343400"/>
            <a:ext cx="4754880" cy="132588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45079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636008"/>
            <a:ext cx="44622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Quyết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5001768"/>
            <a:ext cx="4462272" cy="5760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LR-FNO thắng FNO 5/5 seed, paired t=4.72, std nhỏ.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U-FNO-style có seed tốt nhưng variance lớn; U-Net nhanh nhưng kém chính xác hơn.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343400"/>
            <a:ext cx="4480560" cy="1325880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9944" y="4507992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4636008"/>
            <a:ext cx="41879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Framing khoa học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5001768"/>
            <a:ext cx="4187952" cy="5760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Gọi là locally refined FNO / U-FNO family adaptation.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Không claim kiến trúc hoàn toàn mới.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7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Benchmark RQ1-RQ3: fidelity, generalization,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3: Headline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Số chính từ runs/phase3_fem/benchmark.json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7335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REL-L2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20639B"/>
                </a:solidFill>
                <a:latin typeface="Aptos"/>
              </a:rPr>
              <a:t>0.0606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8541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LR-FNO overall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0020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67335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190195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1.42 deg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18541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tangential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60020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67335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MLP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190195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9.0x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218541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field-to-field wins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600200"/>
            <a:ext cx="20574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1673352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1901952"/>
            <a:ext cx="1837943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5603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185416"/>
            <a:ext cx="1837943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operator inference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600200"/>
            <a:ext cx="16916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7" y="1673352"/>
            <a:ext cx="14721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SPEEDUP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1901952"/>
            <a:ext cx="14721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AB4742"/>
                </a:solidFill>
                <a:latin typeface="Aptos"/>
              </a:rPr>
              <a:t>29,182x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7" y="2185416"/>
            <a:ext cx="14721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single solve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2788920"/>
          <a:ext cx="54863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787"/>
                <a:gridCol w="1769806"/>
                <a:gridCol w="1769806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LR-FNO rel-L2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MLP rel-L2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0.046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0.366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stick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0.052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0.471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0.061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0.615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full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0.086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0.683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693407" y="2807208"/>
            <a:ext cx="4443983" cy="23865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delity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34640"/>
            <a:ext cx="43891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3: Baseline bake-off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Bảng native PowerPoint, số từ vbts_baselines.json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508760"/>
          <a:ext cx="576071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380"/>
                <a:gridCol w="1054779"/>
                <a:gridCol w="1054779"/>
                <a:gridCol w="1054779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rel-L2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dir deg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FNO adv.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TACTO-style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0.656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69.6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8.85x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Cattaneo-Mindlin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0.830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75.2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11.19x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Taxim/FOTS linear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0.302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9.3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4.07x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MLP per-point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0.545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41.9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7.35x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DeepONet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0.115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3.2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1.55x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U-Net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0.085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2.2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1.15x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Galerkin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0.151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2.04x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FNO trunk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0.074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1.6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---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LR-FNO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0.060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1.5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---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12280" y="1645920"/>
            <a:ext cx="4251960" cy="1920240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58584" y="181051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4" y="1938528"/>
            <a:ext cx="39593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Kết luận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2304288"/>
            <a:ext cx="3959352" cy="117043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Classical/analytic/linear marker cores kém rõ trên cùng GT.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Dense neural models tiến gần hơn; U-Net là đối thủ sát.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Thông điệp đúng: field-to-field non-local operator learning là chìa khóa.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886200"/>
            <a:ext cx="4251960" cy="1417320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58584" y="4050791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4" y="4178808"/>
            <a:ext cx="39593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Sắc thái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4544568"/>
            <a:ext cx="3959352" cy="6675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Không claim raw fps thắng mọi simulator.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Lợi thế bền là latency thấp + autograd + mesh-free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3: RQ2 và slip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Generalization theo tham số vật lý và phân loại contact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45920"/>
          <a:ext cx="50291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045"/>
                <a:gridCol w="1423358"/>
                <a:gridCol w="104379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OOD axis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Degradation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N OOD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high radius 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2.10x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480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high friction mu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1.63x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480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high stiffness 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1.32x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480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645920"/>
          <a:ext cx="461771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454"/>
                <a:gridCol w="1701265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Slip head A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macro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0.931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binary slip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0.969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0.977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full slip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0.919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914400" y="4251960"/>
            <a:ext cx="9921240" cy="114300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0704" y="441655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544568"/>
            <a:ext cx="962863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910328"/>
            <a:ext cx="9628632" cy="39319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Radius là trục nhạy nhất; E bền hơn trong displacement-control. Slip-head tốt nhưng vẫn báo rõ per-class thay vì chỉ macro.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63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Học policy điều khiển qua surrogate khả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4: Task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Servo policy một bước, không phải RL đa bước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" y="1764792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Context: mu, E, R, geometry.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Target summary từ tactile field.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PolicyMLP xuất action sx, sy.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1144" y="17647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Autograd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LR-FNO frozen: eval + requires_grad False.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Gradient chỉ đi tới action/policy.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1 backward per step.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2103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76479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892807"/>
            <a:ext cx="3090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ES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258568"/>
            <a:ext cx="3090672" cy="13533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OpenAI-ES antithetic.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Same PolicyMLP and optimizer.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Cô lập nguồn gradient.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4224528"/>
            <a:ext cx="4946903" cy="1746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licy_servo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51960"/>
            <a:ext cx="4892040" cy="16916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72200" y="4251960"/>
            <a:ext cx="4754880" cy="1691640"/>
          </a:xfrm>
          <a:prstGeom prst="roundRect">
            <a:avLst/>
          </a:prstGeom>
          <a:solidFill>
            <a:srgbClr val="E8F1FA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4416552"/>
            <a:ext cx="68580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4544568"/>
            <a:ext cx="44622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910328"/>
            <a:ext cx="4462272" cy="94183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Trong simulation, static one-step map.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Dùng để test differentiability/sample-efficiency, không claim closed-loop dynamics.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4: Autograd vs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Số từ runs/phase4/policy_servo.json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640079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185333"/>
                <a:gridCol w="1185333"/>
                <a:gridCol w="1185333"/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Final loss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Fwd queries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Wall time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Target query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Autograd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1.94e-10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18.2s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81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ES pop32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2.19e-10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19200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438.0s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52D36"/>
                          </a:solidFill>
                          <a:latin typeface="Aptos"/>
                        </a:rPr>
                        <a:t>5824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664208"/>
            <a:ext cx="19202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7" y="1737360"/>
            <a:ext cx="17007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7" y="1965960"/>
            <a:ext cx="17007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72x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7" y="2249424"/>
            <a:ext cx="17007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fewer to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664208"/>
            <a:ext cx="16916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48088" y="1737360"/>
            <a:ext cx="14721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8088" y="1965960"/>
            <a:ext cx="14721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24x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249424"/>
            <a:ext cx="14721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4041648"/>
            <a:ext cx="4992624" cy="17922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olicy_servo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4937760" cy="17373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46520" y="4069080"/>
            <a:ext cx="4526280" cy="173736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92824" y="423367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4361688"/>
            <a:ext cx="4233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4727448"/>
            <a:ext cx="4233672" cy="98755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Suh-style gradient pathology không xuất hiện ở one-step learned surrogate.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Smooth operator gradient có ích cho control, dù không thay thế multi-step contact proof.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7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Cảm biến marker-dot khả vi và image-space inverse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5: Renderer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Từ displacement field sang ảnh marker-dot bằng 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45336"/>
            <a:ext cx="5358383" cy="1837943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5303520" cy="1783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572768"/>
            <a:ext cx="4526280" cy="1783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92824" y="1737360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1865376"/>
            <a:ext cx="42336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2824" y="2231136"/>
            <a:ext cx="4233672" cy="1033271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Pinhole camera nhìn từ dưới gel.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Deformed markers -&gt; Gaussian dot splatting.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Torch implementation: autograd-connected.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1033272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315968"/>
            <a:ext cx="1234440" cy="310896"/>
          </a:xfrm>
          <a:prstGeom prst="roundRect">
            <a:avLst/>
          </a:prstGeom>
          <a:solidFill>
            <a:srgbClr val="20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FEM/IPC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315968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315968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marker positions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315968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315968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rendered dots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315968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4315968"/>
            <a:ext cx="1234440" cy="310896"/>
          </a:xfrm>
          <a:prstGeom prst="round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image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4315968"/>
            <a:ext cx="32004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5C6C7E"/>
                </a:solidFill>
                <a:latin typeface="Apto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315968"/>
            <a:ext cx="1234440" cy="310896"/>
          </a:xfrm>
          <a:prstGeom prst="round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gradient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5: Sensor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Số từ sensor_build / sensor_compat / sensor_inverse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572768"/>
          <a:ext cx="530351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823"/>
                <a:gridCol w="1403872"/>
                <a:gridCol w="1949823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flow-disp cosine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0.999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mean over modes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round-trip overall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0.22 px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render -&gt; track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stick / slip px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0.13 / 0.30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mode split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compat flow rel-L2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0.078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render o LR-FNO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single inverse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9.0% / 2.82 deg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full slip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572768"/>
          <a:ext cx="45262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165"/>
                <a:gridCol w="1444557"/>
                <a:gridCol w="1444557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Mag err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Dir err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23.3%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16.9 deg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stick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5.0%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1.1 deg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3.8%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0.9 deg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full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15.3%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0.4 deg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11.8%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4.8 deg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4343400"/>
            <a:ext cx="10058400" cy="109728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4983" y="45079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4636008"/>
            <a:ext cx="976579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5001768"/>
            <a:ext cx="9765792" cy="3474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Image inverse tốt ở shear-rich regimes; normal khó vì shear gần 0 khiến hướng ill-defined. Report phải tách theo mode.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5: Visual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Ảnh lấy trực tiếp từ runs/phase5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4855464" cy="4123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t_vs_fno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4800600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70448" y="1481328"/>
            <a:ext cx="3758183" cy="4123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st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508760"/>
            <a:ext cx="3703320" cy="4069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966960" y="1691640"/>
            <a:ext cx="132588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13264" y="1856232"/>
            <a:ext cx="68580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13264" y="1984248"/>
            <a:ext cx="1033271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3264" y="2350008"/>
            <a:ext cx="1033271" cy="231343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GT/FNO residual.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Flow residual.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Mode samples.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84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Framework mô phỏng VBTS và differentiable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6: Env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Frozen LR-FNO + marker sensor + image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REWARD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99.8%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8541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random -&gt; oracle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60020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67335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GRADCHECK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190195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18541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finite diff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60020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67335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FLOWS TO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190195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20639B"/>
                </a:solidFill>
                <a:latin typeface="Aptos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218541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autograd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00200"/>
            <a:ext cx="21488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1673352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OBS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1901952"/>
            <a:ext cx="192938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64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185416"/>
            <a:ext cx="192938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noisy reward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2944368"/>
            <a:ext cx="4535424" cy="24323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nv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71800"/>
            <a:ext cx="4480560" cy="23774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715000" y="2971800"/>
            <a:ext cx="5074920" cy="237744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61304" y="31363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1304" y="3264408"/>
            <a:ext cx="47823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1304" y="3630168"/>
            <a:ext cx="4782312" cy="162763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Contextual one-step environment, not multi-step dynamics.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Useful proof: policy can optimize through image reward.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Current formal evidence is gradient-flow sanity check.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6: 6b-6d framework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Các hướng framework còn lại hiện là log/report evidence, không còn đủ artifact trong runs/phase6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103784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53"/>
                <a:gridCol w="4036060"/>
                <a:gridCol w="4997026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Subphase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Evidence / caveat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6b realism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camera noise floor không che được FNO error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số từ log gốc; cần archive artifact nếu muốn reproducible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6c temporal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endpoint-only đủ; loading-history NULL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model-free kNN matched: cross/same ~1.00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6d object geometry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sphere &lt;&lt; cylinder &lt; flat về marker-flow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đặt nền cho Phase 8 geometry-OOD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6a env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artifact còn đầy đủ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D36"/>
                          </a:solidFill>
                          <a:latin typeface="Aptos"/>
                        </a:rPr>
                        <a:t>runs/phase6/env_demo.{json,png}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983480"/>
            <a:ext cx="9875520" cy="731520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514807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5276088"/>
            <a:ext cx="958291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Audit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5641848"/>
            <a:ext cx="9582912" cy="-18287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Báo cáo Phase 6 đã ghi rõ chỉ 6a còn artifact trong runs; khi trình bày chính thức nên phân biệt measured artifact vs archived/log-derived evidence.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B4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Temporal visualization và audit boundary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7: Soft-BC 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FNO khớp GT soft-BC, nhưng GT có rigid drift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55448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248"/>
                <a:gridCol w="2084832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Temporal compare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mean rel-L2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0.038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EPE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0.12 px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dir error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1.17 deg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cos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D36"/>
                          </a:solidFill>
                          <a:latin typeface="Aptos"/>
                        </a:rPr>
                        <a:t>0.9997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73368" y="1481328"/>
            <a:ext cx="4443983" cy="36667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oral_gt_vs_f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389120" cy="3611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" y="4160520"/>
            <a:ext cx="4892040" cy="1143000"/>
          </a:xfrm>
          <a:prstGeom prst="roundRect">
            <a:avLst/>
          </a:prstGeom>
          <a:solidFill>
            <a:srgbClr val="FCEBEB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4983" y="4325112"/>
            <a:ext cx="685800" cy="36576"/>
          </a:xfrm>
          <a:prstGeom prst="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4453128"/>
            <a:ext cx="4599431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818888"/>
            <a:ext cx="4599431" cy="39319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Soft-BC run chứng minh model khớp lineage cũ, nhưng không phải evidence vật lý cuối vì bottom constraint tạo rigid shift.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7: Corrected-BC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Fixed bottom loại bỏ near-rigid tangential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554480"/>
          <a:ext cx="5394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Field diagnostic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Soft-BC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Corrected-BC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local normal contrast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0.085 mm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0.258-0.262 mm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residual tangential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0.012 mm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0.076-0.090 mm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mean marker flow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3.1-3.3 px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0.54-0.67 px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uniform energy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~99.8%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20-24% smoke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64807" y="1572768"/>
            <a:ext cx="4489703" cy="1472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hase7_field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4434840" cy="1417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" y="4133087"/>
            <a:ext cx="5084064" cy="16550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mporal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5029200" cy="1600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73368" y="4133087"/>
            <a:ext cx="5084064" cy="16550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emporal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60520"/>
            <a:ext cx="5029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7: Evidence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Không dùng corrected-BC GT-vs-FNO cũ làm claim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AB4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00200"/>
          <a:ext cx="566927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225"/>
                <a:gridCol w="1277584"/>
                <a:gridCol w="239547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Artifact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Use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runs/phase7/*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soft-BC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temporal visualization only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runs/phase7_bc_corrected/temporal*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corrected GT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GT-only evidence valid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runs/phase7_bc_corrected/temporal_gt_vs_fno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FNO trained on old GT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do not use as FNO evidence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production REALISTIC_BC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rerun complete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252D36"/>
                          </a:solidFill>
                          <a:latin typeface="Aptos"/>
                        </a:rPr>
                        <a:t>source for Phase 3-6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903720" y="1664208"/>
            <a:ext cx="201168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1737360"/>
            <a:ext cx="179222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BAD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965960"/>
            <a:ext cx="179222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AB4742"/>
                </a:solidFill>
                <a:latin typeface="Aptos"/>
              </a:rPr>
              <a:t>3.37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249424"/>
            <a:ext cx="179222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rel-L2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664208"/>
            <a:ext cx="201168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1737360"/>
            <a:ext cx="179222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BAD EPE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1965960"/>
            <a:ext cx="179222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C6752E"/>
                </a:solidFill>
                <a:latin typeface="Aptos"/>
              </a:rPr>
              <a:t>2.77px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249424"/>
            <a:ext cx="179222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old model vs new 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971800"/>
            <a:ext cx="4251960" cy="160020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0024" y="3136392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3264408"/>
            <a:ext cx="39593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3630168"/>
            <a:ext cx="3959352" cy="85039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Boundary-condition audit triggered full production reground.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All final downstream metrics use corrected-BC dataset.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5C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645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941832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Phase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14884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Geometry-OOD: đo zero-shot drop và few-shot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788920"/>
            <a:ext cx="1325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355080"/>
            <a:ext cx="310896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8: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LR-FNO train trên sphere, test trên 6 hình lệch dần khỏi 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194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73352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IN-DIST REL-L2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197510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20639B"/>
                </a:solidFill>
                <a:latin typeface="Aptos"/>
              </a:rPr>
              <a:t>0.0588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85416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+/- 0.0016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600200"/>
            <a:ext cx="2194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673352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TANGENTIAL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901952"/>
            <a:ext cx="197510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0097A7"/>
                </a:solidFill>
                <a:latin typeface="Aptos"/>
              </a:rPr>
              <a:t>3.67um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185416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+/- 0.14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600200"/>
            <a:ext cx="2194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1673352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OOD SHAPES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1901952"/>
            <a:ext cx="197510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6C5CA0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2185416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4 analytic + 2 mesh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00200"/>
            <a:ext cx="21945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7" y="1673352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60" b="1">
                <a:solidFill>
                  <a:srgbClr val="5C6C7E"/>
                </a:solidFill>
                <a:latin typeface="Aptos"/>
              </a:rPr>
              <a:t>FEW-SHOT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7" y="1901952"/>
            <a:ext cx="1975104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700" b="1">
                <a:solidFill>
                  <a:srgbClr val="368468"/>
                </a:solidFill>
                <a:latin typeface="Aptos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7" y="2185416"/>
            <a:ext cx="1975104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40" b="0">
                <a:solidFill>
                  <a:srgbClr val="5C6C7E"/>
                </a:solidFill>
                <a:latin typeface="Aptos"/>
              </a:rPr>
              <a:t>frames, 20 epochs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063240"/>
            <a:ext cx="4937760" cy="1645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983" y="3227832"/>
            <a:ext cx="685800" cy="36576"/>
          </a:xfrm>
          <a:prstGeom prst="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3355848"/>
            <a:ext cx="464515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Three conditions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3" y="3721608"/>
            <a:ext cx="4645152" cy="8961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Zero-shot: áp model sphere trực tiếp.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Few-shot: finetune 50 OOD frames, lr=1e-4.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Scratch: random init với cùng 50-frame budget.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63240"/>
            <a:ext cx="4572000" cy="1645920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9944" y="322783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3355848"/>
            <a:ext cx="427939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Metric choice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3721608"/>
            <a:ext cx="4279392" cy="89611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Figure dùng tangential abs-RMSE um.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rel-L2 vẫn lưu trong JSON nhưng phồng khi target norm nhỏ, đặc biệt ellipsoid.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8: OOD result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Bảng native PowerPoint, số từ geometry_ood_phaseE.json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81328"/>
          <a:ext cx="110185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979"/>
                <a:gridCol w="872754"/>
                <a:gridCol w="2181885"/>
                <a:gridCol w="2181885"/>
                <a:gridCol w="2181885"/>
                <a:gridCol w="1309131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Shape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dist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zero um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few um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scratch um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"/>
                        </a:rPr>
                        <a:t>few delta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sphere_oodR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0.40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17.8 +/- 0.7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12.0 +/- 0.4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78.2 +/- 0.1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-32%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rounded_tip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0.46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10.8 +/- 0.7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6.1 +/- 0.1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50.2 +/- 0.4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-44%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bolt_hex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3.36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70.5 +/- 0.9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51.3 +/- 1.5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150.7 +/- 1.9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-27%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cylinder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3.86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81.2 +/- 0.6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60.2 +/- 1.6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165.6 +/- 1.3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-26%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cuboid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4.28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101.7 +/- 2.2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81.0 +/- 2.0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191.3 +/- 1.0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-20%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ellipsoid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4.51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102.5 +/- 4.1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41.4 +/- 2.7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45.9 +/- 0.2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D36"/>
                          </a:solidFill>
                          <a:latin typeface="Aptos"/>
                        </a:rPr>
                        <a:t>-60%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Phase 8: Figure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Geometry-OOD là điểm yếu được đo và giảm nhẹ, không phải đã giải xong tổng quát hình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724144" cy="36667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eometry_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566928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12280" y="1554480"/>
            <a:ext cx="4343400" cy="1371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58584" y="1719072"/>
            <a:ext cx="685800" cy="36576"/>
          </a:xfrm>
          <a:prstGeom prst="rect">
            <a:avLst/>
          </a:prstGeom>
          <a:solidFill>
            <a:srgbClr val="6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58584" y="1847088"/>
            <a:ext cx="4050791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4" y="2212848"/>
            <a:ext cx="4050791" cy="62179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Zero-shot degrade tăng theo geometry distance.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Few-shot thắng scratch cùng budget.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Finetune tạo specialist, có forgetting trên sphere.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246120"/>
            <a:ext cx="4343400" cy="1325880"/>
          </a:xfrm>
          <a:prstGeom prst="roundRect">
            <a:avLst/>
          </a:prstGeom>
          <a:solidFill>
            <a:srgbClr val="FCF2E6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58584" y="3410712"/>
            <a:ext cx="685800" cy="36576"/>
          </a:xfrm>
          <a:prstGeom prst="rect">
            <a:avLst/>
          </a:prstGeom>
          <a:solidFill>
            <a:srgbClr val="C67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3538727"/>
            <a:ext cx="4050791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904487"/>
            <a:ext cx="4050791" cy="57607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Không claim distant curved geometry.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Rounded-tip là curved-bottom mesh PoC gần sphere.</a:t>
            </a:r>
          </a:p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Next: multi-geometry foundation/adapters.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56032"/>
            <a:ext cx="1234440" cy="310896"/>
          </a:xfrm>
          <a:prstGeom prst="roundRect">
            <a:avLst/>
          </a:prstGeom>
          <a:solidFill>
            <a:srgbClr val="12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6231" y="292608"/>
            <a:ext cx="8778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2200" b="1">
                <a:solidFill>
                  <a:srgbClr val="122137"/>
                </a:solidFill>
                <a:latin typeface="Aptos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231" y="804672"/>
            <a:ext cx="9692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980" b="0">
                <a:solidFill>
                  <a:srgbClr val="5C6C7E"/>
                </a:solidFill>
                <a:latin typeface="Aptos"/>
              </a:rPr>
              <a:t>Các phase tạo thành một câu chuyện thống nhất: physics-grounded, differentiable, honest about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1" y="1161288"/>
            <a:ext cx="1051560" cy="36576"/>
          </a:xfrm>
          <a:prstGeom prst="rect">
            <a:avLst/>
          </a:prstGeom>
          <a:solidFill>
            <a:srgbClr val="12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0408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750" b="0">
                <a:solidFill>
                  <a:srgbClr val="5C6C7E"/>
                </a:solidFill>
                <a:latin typeface="Aptos"/>
              </a:rPr>
              <a:t>Neural-operator surrogate for VBTS | phase process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750" b="1">
                <a:solidFill>
                  <a:srgbClr val="5C6C7E"/>
                </a:solidFill>
                <a:latin typeface="Aptos"/>
              </a:rPr>
              <a:t>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1065275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905"/>
                <a:gridCol w="4111591"/>
                <a:gridCol w="4672263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Đóng góp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Bằng chứng</a:t>
                      </a:r>
                    </a:p>
                  </a:txBody>
                  <a:tcPr marL="36576" marR="36576">
                    <a:solidFill>
                      <a:srgbClr val="12213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Ground truth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IPC/UIPC corrected-BC realistic thin gel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2520 frames, robust adaptive-K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Surrogate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LR-FNO field-to-field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rel-L2 0.0606, 29,182x vs IPC solve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Downstream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control + sensor + env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72x fewer target queries, image inverse, reward gap 99.8%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BC root-cause and reground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uniform energy old 99.8% -&gt; corrected 20-24% smoke</a:t>
                      </a:r>
                    </a:p>
                  </a:txBody>
                  <a:tcPr marL="36576" marR="36576">
                    <a:solidFill>
                      <a:srgbClr val="F2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Generalization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geometry-OOD quantified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52D36"/>
                          </a:solidFill>
                          <a:latin typeface="Aptos"/>
                        </a:rPr>
                        <a:t>6 shapes, few-shot recovery 20-60%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4892040"/>
            <a:ext cx="10012680" cy="777240"/>
          </a:xfrm>
          <a:prstGeom prst="roundRect">
            <a:avLst/>
          </a:prstGeom>
          <a:solidFill>
            <a:srgbClr val="EAF6F0"/>
          </a:solidFill>
          <a:ln w="889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6424" y="5056631"/>
            <a:ext cx="685800" cy="36576"/>
          </a:xfrm>
          <a:prstGeom prst="rect">
            <a:avLst/>
          </a:prstGeom>
          <a:solidFill>
            <a:srgbClr val="368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5184648"/>
            <a:ext cx="9720072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r>
              <a:rPr sz="1200" b="1">
                <a:solidFill>
                  <a:srgbClr val="122137"/>
                </a:solidFill>
                <a:latin typeface="Aptos"/>
              </a:rPr>
              <a:t>Hướng tiếp theo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5550407"/>
            <a:ext cx="9720072" cy="27432"/>
          </a:xfrm>
          <a:prstGeom prst="rect">
            <a:avLst/>
          </a:prstGeom>
          <a:noFill/>
        </p:spPr>
        <p:txBody>
          <a:bodyPr wrap="none" lIns="73152" rIns="36576" tIns="18288">
            <a:spAutoFit/>
          </a:bodyPr>
          <a:lstStyle/>
          <a:p>
            <a:pPr>
              <a:spcAft>
                <a:spcPts val="300"/>
              </a:spcAft>
              <a:defRPr sz="940">
                <a:solidFill>
                  <a:srgbClr val="252D36"/>
                </a:solidFill>
                <a:latin typeface="Aptos"/>
              </a:defRPr>
            </a:pPr>
            <a:r>
              <a:t>Multi-geometry foundation model, adapter/few-shot không quên, và sim-to-real calibration trên cảm biến marker-gel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