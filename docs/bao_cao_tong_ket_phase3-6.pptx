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Calibri"/>
              </a:rPr>
              <a:t>Neural-Operator surrogate cho cảm biến xúc giác VBTS</a:t>
            </a:r>
          </a:p>
          <a:p>
            <a:r>
              <a:rPr b="0" sz="2000">
                <a:solidFill>
                  <a:srgbClr val="D8E2F2"/>
                </a:solidFill>
                <a:latin typeface="Calibri"/>
              </a:rPr>
              <a:t>Báo cáo tổng kết dự án — Giai đoạn 3 → 6</a:t>
            </a:r>
          </a:p>
          <a:p>
            <a:pPr>
              <a:spcBef>
                <a:spcPts val="1800"/>
              </a:spcBef>
            </a:pPr>
            <a:r>
              <a:rPr b="0" sz="1500">
                <a:solidFill>
                  <a:srgbClr val="C4D4EC"/>
                </a:solidFill>
                <a:latin typeface="Calibri"/>
              </a:rPr>
              <a:t>FNO khả vi · cảm biến marker-dot · điều khiển · framework</a:t>
            </a:r>
          </a:p>
          <a:p>
            <a:pPr>
              <a:spcBef>
                <a:spcPts val="800"/>
              </a:spcBef>
            </a:pPr>
            <a:r>
              <a:rPr b="0" sz="1400">
                <a:solidFill>
                  <a:srgbClr val="C4D4EC"/>
                </a:solidFill>
                <a:latin typeface="Calibri"/>
              </a:rPr>
              <a:t>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0 · TÓM TẮT ĐIỀU HÀNH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Bốn kết quả cốt lõi (đều kiểm chứng trên FEM thật)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Framing field→field là chìa khóa</a:t>
            </a:r>
            <a:r>
              <a:rPr b="0" sz="1600">
                <a:solidFill>
                  <a:srgbClr val="181818"/>
                </a:solidFill>
                <a:latin typeface="Calibri"/>
              </a:rPr>
              <a:t> (P3): FNO thắng MLP per-point </a:t>
            </a:r>
            <a:r>
              <a:rPr b="1" sz="1600">
                <a:solidFill>
                  <a:srgbClr val="181818"/>
                </a:solidFill>
                <a:latin typeface="Calibri"/>
              </a:rPr>
              <a:t>2.24×</a:t>
            </a:r>
            <a:r>
              <a:rPr b="0" sz="1600">
                <a:solidFill>
                  <a:srgbClr val="181818"/>
                </a:solidFill>
                <a:latin typeface="Calibri"/>
              </a:rPr>
              <a:t> trên FEM thật (6.7× giải tích) — chuyển vị bề mặt là hàm </a:t>
            </a:r>
            <a:r>
              <a:rPr b="1" sz="1600">
                <a:solidFill>
                  <a:srgbClr val="181818"/>
                </a:solidFill>
                <a:latin typeface="Calibri"/>
              </a:rPr>
              <a:t>phi cục bộ</a:t>
            </a:r>
            <a:r>
              <a:rPr b="0" sz="1600">
                <a:solidFill>
                  <a:srgbClr val="18181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Khả vi → điều khiển hiệu quả</a:t>
            </a:r>
            <a:r>
              <a:rPr b="0" sz="1600">
                <a:solidFill>
                  <a:srgbClr val="181818"/>
                </a:solidFill>
                <a:latin typeface="Calibri"/>
              </a:rPr>
              <a:t> (P4): học policy backprop qua FNO cần </a:t>
            </a:r>
            <a:r>
              <a:rPr b="1" sz="1600">
                <a:solidFill>
                  <a:srgbClr val="181818"/>
                </a:solidFill>
                <a:latin typeface="Calibri"/>
              </a:rPr>
              <a:t>~64× ít truy vấn / ~24× nhanh</a:t>
            </a:r>
            <a:r>
              <a:rPr b="0" sz="1600">
                <a:solidFill>
                  <a:srgbClr val="181818"/>
                </a:solidFill>
                <a:latin typeface="Calibri"/>
              </a:rPr>
              <a:t> hơn gradient-free (ES), cùng chất lượng.</a:t>
            </a:r>
          </a:p>
          <a:p>
            <a:pPr>
              <a:spcAft>
                <a:spcPts val="10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Cảm biến khả vi end-to-end</a:t>
            </a:r>
            <a:r>
              <a:rPr b="0" sz="1600">
                <a:solidFill>
                  <a:srgbClr val="181818"/>
                </a:solidFill>
                <a:latin typeface="Calibri"/>
              </a:rPr>
              <a:t> (P5): trường → ảnh marker-dot bằng torch; khôi phục lực kéo (sx,sy) </a:t>
            </a:r>
            <a:r>
              <a:rPr b="1" sz="1600">
                <a:solidFill>
                  <a:srgbClr val="181818"/>
                </a:solidFill>
                <a:latin typeface="Calibri"/>
              </a:rPr>
              <a:t>từ ảnh</a:t>
            </a:r>
            <a:r>
              <a:rPr b="0" sz="1600">
                <a:solidFill>
                  <a:srgbClr val="181818"/>
                </a:solidFill>
                <a:latin typeface="Calibri"/>
              </a:rPr>
              <a:t> sai số </a:t>
            </a:r>
            <a:r>
              <a:rPr b="1" sz="1600">
                <a:solidFill>
                  <a:srgbClr val="181818"/>
                </a:solidFill>
                <a:latin typeface="Calibri"/>
              </a:rPr>
              <a:t>2.1%</a:t>
            </a:r>
            <a:r>
              <a:rPr b="0" sz="1600">
                <a:solidFill>
                  <a:srgbClr val="18181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Framework hoàn chỉnh</a:t>
            </a:r>
            <a:r>
              <a:rPr b="0" sz="1600">
                <a:solidFill>
                  <a:srgbClr val="181818"/>
                </a:solidFill>
                <a:latin typeface="Calibri"/>
              </a:rPr>
              <a:t> (P6): env khả vi (6a) + sàn nhiễu (6b) + lịch sử tải NULL (6c) + hình học vật (6d).</a:t>
            </a:r>
          </a:p>
          <a:p>
            <a:pPr>
              <a:spcAft>
                <a:spcPts val="10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Trung thực:</a:t>
            </a:r>
            <a:r>
              <a:rPr b="0" sz="1600">
                <a:solidFill>
                  <a:srgbClr val="181818"/>
                </a:solidFill>
                <a:latin typeface="Calibri"/>
              </a:rPr>
              <a:t> trần tiếp tuyến ~0.15/14° là giới hạn nội tại; tốc độ không phải lợi thế bền; vs U-Net lợi thế hẹp còn ~1.03×.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1 · BỐI CẢNH &amp; MỤC TIÊU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Hai nhánh, ba lớp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Cảm biến VBTS: robot 'nhìn' tiếp xúc qua biến dạng gel in chấm marker. Mô phỏng chính xác = giải tiếp xúc đàn hồi-ma sát → đắt, không khả vi.</a:t>
            </a:r>
          </a:p>
          <a:p>
            <a:pPr>
              <a:spcAft>
                <a:spcPts val="6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</a:t>
            </a:r>
            <a:r>
              <a:rPr b="1" sz="1500">
                <a:solidFill>
                  <a:srgbClr val="181818"/>
                </a:solidFill>
                <a:latin typeface="Calibri"/>
              </a:rPr>
              <a:t>Ý tưởng:</a:t>
            </a:r>
            <a:r>
              <a:rPr b="0" sz="1500">
                <a:solidFill>
                  <a:srgbClr val="181818"/>
                </a:solidFill>
                <a:latin typeface="Calibri"/>
              </a:rPr>
              <a:t> học một toán tử thay solver. Đích = ghép 2 nhánh:</a:t>
            </a:r>
          </a:p>
          <a:p>
            <a:pPr lvl="1"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– </a:t>
            </a:r>
            <a:r>
              <a:rPr b="1" sz="1400">
                <a:solidFill>
                  <a:srgbClr val="181818"/>
                </a:solidFill>
                <a:latin typeface="Calibri"/>
              </a:rPr>
              <a:t>Nhánh A</a:t>
            </a:r>
            <a:r>
              <a:rPr b="0" sz="1400">
                <a:solidFill>
                  <a:srgbClr val="181818"/>
                </a:solidFill>
                <a:latin typeface="Calibri"/>
              </a:rPr>
              <a:t> — môi trường mô phỏng cảm biến (GT + ảnh + env điều khiển).</a:t>
            </a:r>
          </a:p>
          <a:p>
            <a:pPr lvl="1"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– </a:t>
            </a:r>
            <a:r>
              <a:rPr b="1" sz="1400">
                <a:solidFill>
                  <a:srgbClr val="181818"/>
                </a:solidFill>
                <a:latin typeface="Calibri"/>
              </a:rPr>
              <a:t>Nhánh B</a:t>
            </a:r>
            <a:r>
              <a:rPr b="0" sz="1400">
                <a:solidFill>
                  <a:srgbClr val="181818"/>
                </a:solidFill>
                <a:latin typeface="Calibri"/>
              </a:rPr>
              <a:t> — FNO surrogate khả vi làm lõi nhanh trong vòng điều khiển.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114800"/>
          <a:ext cx="110642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023360"/>
                <a:gridCol w="40233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Lớp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Vai trò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Công cụ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GT chính xác-chậm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sinh dữ liệu + thước đo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PhysX FEM (Isaac Sim)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Validator giải tích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kiểm tra GT + baseline vật lý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Hertz + Cattaneo–Mindlin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Surrogate nhanh-khả-vi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đóng góp chính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FNO (Fourier Neural Operator)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2 · NỀN TẢNG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Ground truth FEM &amp;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Generator FEM</a:t>
            </a:r>
            <a:r>
              <a:rPr b="0" sz="1600">
                <a:solidFill>
                  <a:srgbClr val="181818"/>
                </a:solidFill>
                <a:latin typeface="Calibri"/>
              </a:rPr>
              <a:t> (</a:t>
            </a:r>
            <a:r>
              <a:rPr b="0" sz="1600">
                <a:solidFill>
                  <a:srgbClr val="181818"/>
                </a:solidFill>
                <a:latin typeface="Consolas"/>
              </a:rPr>
              <a:t>isaac_extract_{normal,shear}</a:t>
            </a:r>
            <a:r>
              <a:rPr b="0" sz="1600">
                <a:solidFill>
                  <a:srgbClr val="181818"/>
                </a:solidFill>
                <a:latin typeface="Calibri"/>
              </a:rPr>
              <a:t>, Docker </a:t>
            </a:r>
            <a:r>
              <a:rPr b="0" sz="1600">
                <a:solidFill>
                  <a:srgbClr val="181818"/>
                </a:solidFill>
                <a:latin typeface="Consolas"/>
              </a:rPr>
              <a:t>isaac-lab-fem</a:t>
            </a:r>
            <a:r>
              <a:rPr b="0" sz="1600">
                <a:solidFill>
                  <a:srgbClr val="181818"/>
                </a:solidFill>
                <a:latin typeface="Calibri"/>
              </a:rPr>
              <a:t>): gel 50×50×20 mm, indentor cầu r=0.02 m.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Xuất </a:t>
            </a:r>
            <a:r>
              <a:rPr b="0" sz="1600">
                <a:solidFill>
                  <a:srgbClr val="181818"/>
                </a:solidFill>
                <a:latin typeface="Consolas"/>
              </a:rPr>
              <a:t>disp[N,M,3]</a:t>
            </a:r>
            <a:r>
              <a:rPr b="0" sz="1600">
                <a:solidFill>
                  <a:srgbClr val="181818"/>
                </a:solidFill>
                <a:latin typeface="Calibri"/>
              </a:rPr>
              <a:t> (ux,uy,uz) bề mặt gel tại </a:t>
            </a:r>
            <a:r>
              <a:rPr b="1" sz="1600">
                <a:solidFill>
                  <a:srgbClr val="181818"/>
                </a:solidFill>
                <a:latin typeface="Calibri"/>
              </a:rPr>
              <a:t>lưới probe 32×32 = 1024 điểm</a:t>
            </a:r>
            <a:r>
              <a:rPr b="0" sz="1600">
                <a:solidFill>
                  <a:srgbClr val="181818"/>
                </a:solidFill>
                <a:latin typeface="Calibri"/>
              </a:rPr>
              <a:t> (lấy mẫu trường, độc lập mesh FEM).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Shear/slip qua </a:t>
            </a:r>
            <a:r>
              <a:rPr b="1" sz="1600">
                <a:solidFill>
                  <a:srgbClr val="181818"/>
                </a:solidFill>
                <a:latin typeface="Calibri"/>
              </a:rPr>
              <a:t>micro-steps kéo tiếp tuyến</a:t>
            </a:r>
            <a:r>
              <a:rPr b="0" sz="1600">
                <a:solidFill>
                  <a:srgbClr val="181818"/>
                </a:solidFill>
                <a:latin typeface="Calibri"/>
              </a:rPr>
              <a:t> (phá deadlock tiếp xúc); ~3–4.6 s/frame (res-24).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Validator Hertz–Mindlin:</a:t>
            </a:r>
            <a:r>
              <a:rPr b="0" sz="1600">
                <a:solidFill>
                  <a:srgbClr val="181818"/>
                </a:solidFill>
                <a:latin typeface="Calibri"/>
              </a:rPr>
              <a:t> bán kính tiếp xúc lệch 1.3%, hội tụ 0.5% → GT FEM đáng tin ở chế độ pháp tuyến.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4 chế độ tiếp xúc:</a:t>
            </a:r>
            <a:r>
              <a:rPr b="0" sz="1600">
                <a:solidFill>
                  <a:srgbClr val="181818"/>
                </a:solidFill>
                <a:latin typeface="Calibri"/>
              </a:rPr>
              <a:t> no-contact / stick / partial-slip / full-slip; quyết định không thêm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3 · PHASE 3 (GATE 3)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Khám phá then chốt: framing field→field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param→field</a:t>
            </a:r>
            <a:r>
              <a:rPr b="0" sz="1600">
                <a:solidFill>
                  <a:srgbClr val="181818"/>
                </a:solidFill>
                <a:latin typeface="Calibri"/>
              </a:rPr>
              <a:t> (mỗi điểm mớm full tham số): MLP per-point </a:t>
            </a:r>
            <a:r>
              <a:rPr b="1" sz="1600">
                <a:solidFill>
                  <a:srgbClr val="181818"/>
                </a:solidFill>
                <a:latin typeface="Calibri"/>
              </a:rPr>
              <a:t>thắng</a:t>
            </a:r>
            <a:r>
              <a:rPr b="0" sz="1600">
                <a:solidFill>
                  <a:srgbClr val="181818"/>
                </a:solidFill>
                <a:latin typeface="Calibri"/>
              </a:rPr>
              <a:t> FNO → bài toán thành cục bộ → chỉ là ablation phản chứng.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field→field</a:t>
            </a:r>
            <a:r>
              <a:rPr b="0" sz="1600">
                <a:solidFill>
                  <a:srgbClr val="181818"/>
                </a:solidFill>
                <a:latin typeface="Calibri"/>
              </a:rPr>
              <a:t> (trường lún + shear·mask → trường dịch chuyển): MLP </a:t>
            </a:r>
            <a:r>
              <a:rPr b="1" sz="1600">
                <a:solidFill>
                  <a:srgbClr val="181818"/>
                </a:solidFill>
                <a:latin typeface="Calibri"/>
              </a:rPr>
              <a:t>sụp đổ</a:t>
            </a:r>
            <a:r>
              <a:rPr b="0" sz="1600">
                <a:solidFill>
                  <a:srgbClr val="181818"/>
                </a:solidFill>
                <a:latin typeface="Calibri"/>
              </a:rPr>
              <a:t> (0.743, hướng 63°), FNO giữ 0.111 → </a:t>
            </a:r>
            <a:r>
              <a:rPr b="1" sz="1600">
                <a:solidFill>
                  <a:srgbClr val="181818"/>
                </a:solidFill>
                <a:latin typeface="Calibri"/>
              </a:rPr>
              <a:t>FNO thắng 6.7×</a:t>
            </a:r>
            <a:r>
              <a:rPr b="0" sz="1600">
                <a:solidFill>
                  <a:srgbClr val="181818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Luận điểm:</a:t>
            </a:r>
            <a:r>
              <a:rPr b="0" sz="1600">
                <a:solidFill>
                  <a:srgbClr val="181818"/>
                </a:solidFill>
                <a:latin typeface="Calibri"/>
              </a:rPr>
              <a:t> chuyển vị bề mặt phi cục bộ (Green's function) — FNO học tích chập phổ toàn cục, MLP cục bộ không thể.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EEF2F8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/>
            <a:r>
              <a:rPr b="0" sz="1600">
                <a:solidFill>
                  <a:srgbClr val="1E4690"/>
                </a:solidFill>
                <a:latin typeface="Calibri"/>
              </a:rPr>
              <a:t>→ Đây là đóng góp khoa học chính của dự án: neural operator nắm cấu trúc phi-cục-bộ + phi-tuyến của trường slip mà mô hình vật lý/tuyến tính nhanh bỏ sót.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3 · PHASE 3 (GATE 3)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Gate 3 đóng trên FEM thật — 2400 frame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100"/>
                <a:gridCol w="64541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Chỉ số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Kết quả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RQ1 — FNO overall relL2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0.144–0.146 (hướng tiếp tuyến 14.6°)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FNO thắng MLP per-point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2.24× (0.146 vs 0.328; hướng 14.8° vs 35.7°)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Slip-F1 head-a (multitask)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0.904  (&gt;0.75 ✓)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Slip-F1 head-b (sau khi cứu)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0.753  (+400 frame normal: F1 0→0.85)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RQ2 — ngoại suy R/μ/E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~1.3× cả ba trục (mượt, trong-hộp)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RQ3 — tốc độ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181818"/>
                          </a:solidFill>
                          <a:latin typeface="Calibri"/>
                        </a:rPr>
                        <a:t>FNO ~7868 fps vs FEM 0.341 fps = ~23.000×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5A5A5A"/>
                </a:solidFill>
                <a:latin typeface="Calibri"/>
              </a:rPr>
              <a:t>Luận điểm phi-cục-bộ giữ vững trên vật lý thật (giải tích 6.7× → FEM 2.24×, hẹp hơn vì FEM nhiễu/ít lý tưởng).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3 · PHASE 3 — BAKE-OFF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So với các mô phỏng VBTS tiêu biểu (cô lập giá trị)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2305050"/>
                <a:gridCol w="1659636"/>
                <a:gridCol w="156743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Phương pháp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overall relL2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hướng°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FNO hơn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TACTO-style (động học, no friction)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65.8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3.51×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Cattaneo–Mindlin giải tích (đã hiệu chỉnh)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0.435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39.0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3.03×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Taxim/FOTS-style (tuyến tính chồng chập)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0.295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26.2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2.05×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MLP per-point (cục bộ)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0.321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33.6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2.24×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81818"/>
                          </a:solidFill>
                          <a:latin typeface="Calibri"/>
                        </a:rPr>
                        <a:t>FNO (ours)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81818"/>
                          </a:solidFill>
                          <a:latin typeface="Calibri"/>
                        </a:rPr>
                        <a:t>0.144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181818"/>
                          </a:solidFill>
                          <a:latin typeface="Calibri"/>
                        </a:rPr>
                        <a:t>14.6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Vật lý giải tích kinh điển (Mindlin) </a:t>
            </a:r>
            <a:r>
              <a:rPr b="1" sz="1400">
                <a:solidFill>
                  <a:srgbClr val="181818"/>
                </a:solidFill>
                <a:latin typeface="Calibri"/>
              </a:rPr>
              <a:t>thua</a:t>
            </a:r>
            <a:r>
              <a:rPr b="0" sz="1400">
                <a:solidFill>
                  <a:srgbClr val="181818"/>
                </a:solidFill>
                <a:latin typeface="Calibri"/>
              </a:rPr>
              <a:t> mô hình tuyến tính fit-data — affine không đổi được hình dạng profile.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FNO hơn vì chuyển stick→partial→full slip là </a:t>
            </a:r>
            <a:r>
              <a:rPr b="1" sz="1400">
                <a:solidFill>
                  <a:srgbClr val="181818"/>
                </a:solidFill>
                <a:latin typeface="Calibri"/>
              </a:rPr>
              <a:t>phi tuyến</a:t>
            </a:r>
            <a:r>
              <a:rPr b="0" sz="1400">
                <a:solidFill>
                  <a:srgbClr val="181818"/>
                </a:solidFill>
                <a:latin typeface="Calibri"/>
              </a:rPr>
              <a:t>; MLP cục bộ sụp ở slip.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1" sz="1400">
                <a:solidFill>
                  <a:srgbClr val="181818"/>
                </a:solidFill>
                <a:latin typeface="Calibri"/>
              </a:rPr>
              <a:t>Trung thực:</a:t>
            </a:r>
            <a:r>
              <a:rPr b="0" sz="1400">
                <a:solidFill>
                  <a:srgbClr val="181818"/>
                </a:solidFill>
                <a:latin typeface="Calibri"/>
              </a:rPr>
              <a:t> vs mạng SOTA (U-Net 0.148 ≈ ngang, ít hơn 5.7× params) lợi thế thu hẹp còn 1.03–1.46×.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4 · PHASE 4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Điều khiển qua FNO khả vi (autograd vs 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315199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538"/>
                <a:gridCol w="1688123"/>
                <a:gridCol w="1688123"/>
                <a:gridCol w="1125415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Phương pháp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final loss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truy vấn (fwd)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wall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autograd (backprop qua FNO)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8.02e-8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13 s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ES (gradient-free, pop 32)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8.36e-8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19 200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313 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olicy_servo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54480"/>
            <a:ext cx="3566160" cy="2547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1089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Cùng chất lượng cuối, autograd </a:t>
            </a:r>
            <a:r>
              <a:rPr b="1" sz="1400">
                <a:solidFill>
                  <a:srgbClr val="181818"/>
                </a:solidFill>
                <a:latin typeface="Calibri"/>
              </a:rPr>
              <a:t>~64× ít truy vấn / ~24× nhanh hơn</a:t>
            </a:r>
            <a:r>
              <a:rPr b="0" sz="1400">
                <a:solidFill>
                  <a:srgbClr val="181818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FNO </a:t>
            </a:r>
            <a:r>
              <a:rPr b="1" sz="1400">
                <a:solidFill>
                  <a:srgbClr val="181818"/>
                </a:solidFill>
                <a:latin typeface="Calibri"/>
              </a:rPr>
              <a:t>đóng băng</a:t>
            </a:r>
            <a:r>
              <a:rPr b="0" sz="1400">
                <a:solidFill>
                  <a:srgbClr val="181818"/>
                </a:solidFill>
                <a:latin typeface="Calibri"/>
              </a:rPr>
              <a:t>, gradient chỉ chảy tới action; là policy ngữ-cảnh một-bước (amortized).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1" sz="1400">
                <a:solidFill>
                  <a:srgbClr val="181818"/>
                </a:solidFill>
                <a:latin typeface="Calibri"/>
              </a:rPr>
              <a:t>Phản đề Suh 2022 không cắn:</a:t>
            </a:r>
            <a:r>
              <a:rPr b="0" sz="1400">
                <a:solidFill>
                  <a:srgbClr val="181818"/>
                </a:solidFill>
                <a:latin typeface="Calibri"/>
              </a:rPr>
              <a:t> FNO làm trơn bước nhảy stick→slip → gradient sạch (dở cho forward, tốt cho gradient).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Task A (anti-slip) bỏ trung thực: proxy nhiễu (tăng theo depth = hiệu ứng diện tích).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5 · PHASE 5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Mô hình cảm biến marker-dot khả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Ảnh cảm biến = </a:t>
            </a:r>
            <a:r>
              <a:rPr b="1" sz="1500">
                <a:solidFill>
                  <a:srgbClr val="181818"/>
                </a:solidFill>
                <a:latin typeface="Calibri"/>
              </a:rPr>
              <a:t>chiếu + render chấm</a:t>
            </a:r>
            <a:r>
              <a:rPr b="0" sz="1500">
                <a:solidFill>
                  <a:srgbClr val="181818"/>
                </a:solidFill>
                <a:latin typeface="Calibri"/>
              </a:rPr>
              <a:t> của trường có sẵn (không giải FEM mới); torch → </a:t>
            </a:r>
            <a:r>
              <a:rPr b="0" sz="1500">
                <a:solidFill>
                  <a:srgbClr val="181818"/>
                </a:solidFill>
                <a:latin typeface="Consolas"/>
              </a:rPr>
              <a:t>render∘FNO</a:t>
            </a:r>
            <a:r>
              <a:rPr b="0" sz="1500">
                <a:solidFill>
                  <a:srgbClr val="181818"/>
                </a:solidFill>
                <a:latin typeface="Calibri"/>
              </a:rPr>
              <a:t> khả vi.</a:t>
            </a:r>
          </a:p>
          <a:p>
            <a:pPr>
              <a:spcAft>
                <a:spcPts val="7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</a:t>
            </a:r>
            <a:r>
              <a:rPr b="1" sz="1500">
                <a:solidFill>
                  <a:srgbClr val="181818"/>
                </a:solidFill>
                <a:latin typeface="Calibri"/>
              </a:rPr>
              <a:t>Pipeline:</a:t>
            </a:r>
            <a:r>
              <a:rPr b="0" sz="1500">
                <a:solidFill>
                  <a:srgbClr val="181818"/>
                </a:solidFill>
                <a:latin typeface="Calibri"/>
              </a:rPr>
              <a:t> disp[3,32,32] → lấy mẫu 121 chấm → chiếu camera (pinhole dưới màng) → render Gaussian-splat → ảnh.</a:t>
            </a:r>
          </a:p>
          <a:p>
            <a:pPr>
              <a:spcAft>
                <a:spcPts val="7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ux,uy → chấm trượt ngang (marker flow); uz → đổi depth → chấm phóng to/nhỏ (độ sâu lún).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023360"/>
          <a:ext cx="110642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100"/>
                <a:gridCol w="64541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Chỉ số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Giá trị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Faithful: cos(flow, disp_xy)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0.973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Compat FNO+renderer (marker-flow)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0.26 rel-L2 (khớp trần tiếp tuyến FNO)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Inverse từ ẢNH (sx,sy qua render∘FNO)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2.1% / 1.1° → pipeline khả vi end-to-end chạy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6 · PHASE 6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Hoàn thiện framework — 4 hướng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4149090"/>
                <a:gridCol w="4149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Hướng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Công việc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Kết quả cốt lõi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6a env wrapper [TRỌNG TÂM]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gói FNO+sensor+reward thành env khả vi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policy đóng 87% gap, gradcheck OK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6b realism/sim2real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nhiễu camera + tracker → đo sàn nhiễu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FNO 0.54px &gt; nhiễu 0.06px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6c temporal + lịch sử tải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render quỹ đạo + test path-dependence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trạng thái cuối chỉ phụ thuộc endpoint (NULL)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6d hình học vật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indentor sphere/flat/cylinder (Isaac)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flow 1.7 / 10.5 / 8.4 px khác hẳn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6a · ENV KHẢ VI [TRỌNG TÂM]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Một API gói cả forward + sensor +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0" sz="1400">
                <a:solidFill>
                  <a:srgbClr val="181818"/>
                </a:solidFill>
                <a:latin typeface="Consolas"/>
              </a:rPr>
              <a:t>reset()</a:t>
            </a:r>
            <a:r>
              <a:rPr b="0" sz="1400">
                <a:solidFill>
                  <a:srgbClr val="181818"/>
                </a:solidFill>
                <a:latin typeface="Calibri"/>
              </a:rPr>
              <a:t> → context sphere + render </a:t>
            </a:r>
            <a:r>
              <a:rPr b="1" sz="1400">
                <a:solidFill>
                  <a:srgbClr val="181818"/>
                </a:solidFill>
                <a:latin typeface="Calibri"/>
              </a:rPr>
              <a:t>target imprint</a:t>
            </a:r>
            <a:r>
              <a:rPr b="0" sz="1400">
                <a:solidFill>
                  <a:srgbClr val="181818"/>
                </a:solidFill>
                <a:latin typeface="Calibri"/>
              </a:rPr>
              <a:t> (mục tiêu).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0" sz="1400">
                <a:solidFill>
                  <a:srgbClr val="181818"/>
                </a:solidFill>
                <a:latin typeface="Consolas"/>
              </a:rPr>
              <a:t>differentiable_step(sx,sy)</a:t>
            </a:r>
            <a:r>
              <a:rPr b="0" sz="1400">
                <a:solidFill>
                  <a:srgbClr val="181818"/>
                </a:solidFill>
                <a:latin typeface="Calibri"/>
              </a:rPr>
              <a:t> → FNO → render → ảnh; </a:t>
            </a:r>
            <a:r>
              <a:rPr b="1" sz="1400">
                <a:solidFill>
                  <a:srgbClr val="181818"/>
                </a:solidFill>
                <a:latin typeface="Calibri"/>
              </a:rPr>
              <a:t>reward = −MSE(ảnh, target)</a:t>
            </a:r>
            <a:r>
              <a:rPr b="0" sz="1400">
                <a:solidFill>
                  <a:srgbClr val="181818"/>
                </a:solidFill>
                <a:latin typeface="Calibri"/>
              </a:rPr>
              <a:t>, khả vi.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Tích hợp </a:t>
            </a:r>
            <a:r>
              <a:rPr b="1" sz="1400">
                <a:solidFill>
                  <a:srgbClr val="181818"/>
                </a:solidFill>
                <a:latin typeface="Calibri"/>
              </a:rPr>
              <a:t>PolicyMLP P4</a:t>
            </a:r>
            <a:r>
              <a:rPr b="0" sz="1400">
                <a:solidFill>
                  <a:srgbClr val="181818"/>
                </a:solidFill>
                <a:latin typeface="Calibri"/>
              </a:rPr>
              <a:t>, huấn luyện qua env. Adapter gymnasium.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Single-step contextual (FNO tĩnh); chỉ dùng sphere.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754880"/>
          <a:ext cx="5852159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68"/>
                <a:gridCol w="3344091"/>
              </a:tblGrid>
              <a:tr h="292608">
                <a:tc>
                  <a:txBody>
                    <a:bodyPr wrap="square"/>
                    <a:lstStyle/>
                    <a:p/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mean reward (cao=tốt)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ngẫu nhiên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−3.23e-3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Phase-4 policy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−6.52e-4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oracle (thật)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−2.72e-4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env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363474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5A5A5A"/>
                </a:solidFill>
                <a:latin typeface="Calibri"/>
              </a:rPr>
              <a:t>Policy đóng 87% gap ngẫu-nhiên→oracle · gradcheck rel_err 3.7% · cột policy khớp target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6b · REALISM / SIM2REAL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Sàn nhiễu camera vs sai số FNO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Thang đo chuẩn = </a:t>
            </a:r>
            <a:r>
              <a:rPr b="1" sz="1400">
                <a:solidFill>
                  <a:srgbClr val="181818"/>
                </a:solidFill>
                <a:latin typeface="Calibri"/>
              </a:rPr>
              <a:t>EPE pixel</a:t>
            </a:r>
            <a:r>
              <a:rPr b="0" sz="1400">
                <a:solidFill>
                  <a:srgbClr val="181818"/>
                </a:solidFill>
                <a:latin typeface="Calibri"/>
              </a:rPr>
              <a:t>. GT-vs-FNO: EPE </a:t>
            </a:r>
            <a:r>
              <a:rPr b="1" sz="1400">
                <a:solidFill>
                  <a:srgbClr val="181818"/>
                </a:solidFill>
                <a:latin typeface="Calibri"/>
              </a:rPr>
              <a:t>0.54 px</a:t>
            </a:r>
            <a:r>
              <a:rPr b="0" sz="1400">
                <a:solidFill>
                  <a:srgbClr val="181818"/>
                </a:solidFill>
                <a:latin typeface="Calibri"/>
              </a:rPr>
              <a:t> (pitch marker 12 px).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Quét read-noise 0→8%: jitter (sàn nhiễu) 0.055→0.107 px; bias (tracker) 0.31 px.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1" sz="1400">
                <a:solidFill>
                  <a:srgbClr val="181818"/>
                </a:solidFill>
                <a:latin typeface="Calibri"/>
              </a:rPr>
              <a:t>Kết quả (đảo kỳ vọng):</a:t>
            </a:r>
            <a:r>
              <a:rPr b="0" sz="1400">
                <a:solidFill>
                  <a:srgbClr val="181818"/>
                </a:solidFill>
                <a:latin typeface="Calibri"/>
              </a:rPr>
              <a:t> sai số FNO 0.54 px </a:t>
            </a:r>
            <a:r>
              <a:rPr b="1" sz="1400">
                <a:solidFill>
                  <a:srgbClr val="181818"/>
                </a:solidFill>
                <a:latin typeface="Calibri"/>
              </a:rPr>
              <a:t>&gt; sàn nhiễu @2% (0.06)</a:t>
            </a:r>
            <a:r>
              <a:rPr b="0" sz="1400">
                <a:solidFill>
                  <a:srgbClr val="181818"/>
                </a:solidFill>
                <a:latin typeface="Calibri"/>
              </a:rPr>
              <a:t> và </a:t>
            </a:r>
            <a:r>
              <a:rPr b="1" sz="1400">
                <a:solidFill>
                  <a:srgbClr val="181818"/>
                </a:solidFill>
                <a:latin typeface="Calibri"/>
              </a:rPr>
              <a:t>&gt; tracker (0.31)</a:t>
            </a:r>
            <a:r>
              <a:rPr b="0" sz="1400">
                <a:solidFill>
                  <a:srgbClr val="18181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→ Nhiễu camera </a:t>
            </a:r>
            <a:r>
              <a:rPr b="1" sz="1400">
                <a:solidFill>
                  <a:srgbClr val="181818"/>
                </a:solidFill>
                <a:latin typeface="Calibri"/>
              </a:rPr>
              <a:t>không che được</a:t>
            </a:r>
            <a:r>
              <a:rPr b="0" sz="1400">
                <a:solidFill>
                  <a:srgbClr val="181818"/>
                </a:solidFill>
                <a:latin typeface="Calibri"/>
              </a:rPr>
              <a:t> sai số FNO. Muốn cải thiện: nâng FNO / tracker sub-pixel, đừng đổ tiền camera.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calibration.py: chỉ schema (chờ hardware thật).</a:t>
            </a:r>
          </a:p>
        </p:txBody>
      </p:sp>
      <p:pic>
        <p:nvPicPr>
          <p:cNvPr id="5" name="Picture 4" descr="realism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45920"/>
            <a:ext cx="4297680" cy="2887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6c · TEMPORAL + LỊCH SỬ TẢI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Trạng thái cuối có phụ thuộc đường tải?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Generator thêm </a:t>
            </a:r>
            <a:r>
              <a:rPr b="0" sz="1400">
                <a:solidFill>
                  <a:srgbClr val="181818"/>
                </a:solidFill>
                <a:latin typeface="Consolas"/>
              </a:rPr>
              <a:t>--save-trajectory</a:t>
            </a:r>
            <a:r>
              <a:rPr b="0" sz="1400">
                <a:solidFill>
                  <a:srgbClr val="181818"/>
                </a:solidFill>
                <a:latin typeface="Calibri"/>
              </a:rPr>
              <a:t> + 3 đường tải (linear/ortho/reverse) cùng endpoint.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Render quỹ đạo kéo → </a:t>
            </a:r>
            <a:r>
              <a:rPr b="1" sz="1400">
                <a:solidFill>
                  <a:srgbClr val="181818"/>
                </a:solidFill>
                <a:latin typeface="Calibri"/>
              </a:rPr>
              <a:t>video marker-dot</a:t>
            </a:r>
            <a:r>
              <a:rPr b="0" sz="1400">
                <a:solidFill>
                  <a:srgbClr val="181818"/>
                </a:solidFill>
                <a:latin typeface="Calibri"/>
              </a:rPr>
              <a:t> (progressive stick→slip); reverse hiện overshoot ở f≈0.71.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1" sz="1400">
                <a:solidFill>
                  <a:srgbClr val="181818"/>
                </a:solidFill>
                <a:latin typeface="Calibri"/>
              </a:rPr>
              <a:t>Test path-dependence (NULL):</a:t>
            </a:r>
            <a:r>
              <a:rPr b="0" sz="1400">
                <a:solidFill>
                  <a:srgbClr val="181818"/>
                </a:solidFill>
                <a:latin typeface="Calibri"/>
              </a:rPr>
              <a:t> endpoint-only 0.161 vs +load-mode 0.171; kNN distance-matched cross/same = </a:t>
            </a:r>
            <a:r>
              <a:rPr b="1" sz="1400">
                <a:solidFill>
                  <a:srgbClr val="181818"/>
                </a:solidFill>
                <a:latin typeface="Calibri"/>
              </a:rPr>
              <a:t>1.00</a:t>
            </a:r>
            <a:r>
              <a:rPr b="0" sz="1400">
                <a:solidFill>
                  <a:srgbClr val="181818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→ Trạng thái cuối </a:t>
            </a:r>
            <a:r>
              <a:rPr b="1" sz="1400">
                <a:solidFill>
                  <a:srgbClr val="181818"/>
                </a:solidFill>
                <a:latin typeface="Calibri"/>
              </a:rPr>
              <a:t>chỉ phụ thuộc endpoint (sx,sy,depth)</a:t>
            </a:r>
            <a:r>
              <a:rPr b="0" sz="1400">
                <a:solidFill>
                  <a:srgbClr val="181818"/>
                </a:solidFill>
                <a:latin typeface="Calibri"/>
              </a:rPr>
              <a:t>, không phụ thuộc đường đi.</a:t>
            </a:r>
          </a:p>
          <a:p>
            <a:pPr>
              <a:spcAft>
                <a:spcPts val="7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→ Thành phần bất khả giảm của trần tiếp tuyến </a:t>
            </a:r>
            <a:r>
              <a:rPr b="1" sz="1400">
                <a:solidFill>
                  <a:srgbClr val="181818"/>
                </a:solidFill>
                <a:latin typeface="Calibri"/>
              </a:rPr>
              <a:t>không</a:t>
            </a:r>
            <a:r>
              <a:rPr b="0" sz="1400">
                <a:solidFill>
                  <a:srgbClr val="181818"/>
                </a:solidFill>
                <a:latin typeface="Calibri"/>
              </a:rPr>
              <a:t> phải lịch sử tải.</a:t>
            </a:r>
          </a:p>
        </p:txBody>
      </p:sp>
      <p:pic>
        <p:nvPicPr>
          <p:cNvPr id="5" name="Picture 4" descr="temporal_sli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4297680" cy="27769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6d · HÌNH HỌC VẬT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Mở rộng beyond sphere (Isaac)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64008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Hình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mean_tang (m)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contact-area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marker flow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sphere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0.0004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1.7 px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cylinder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8.4 px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flat punch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0.0022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>
                          <a:solidFill>
                            <a:srgbClr val="181818"/>
                          </a:solidFill>
                          <a:latin typeface="Calibri"/>
                        </a:rPr>
                        <a:t>10.5 px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9184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</a:t>
            </a:r>
            <a:r>
              <a:rPr b="1" sz="1400">
                <a:solidFill>
                  <a:srgbClr val="181818"/>
                </a:solidFill>
                <a:latin typeface="Calibri"/>
              </a:rPr>
              <a:t>Hình học định hình mạnh trường xúc giác</a:t>
            </a:r>
            <a:r>
              <a:rPr b="0" sz="1400">
                <a:solidFill>
                  <a:srgbClr val="181818"/>
                </a:solidFill>
                <a:latin typeface="Calibri"/>
              </a:rPr>
              <a:t> (flow khác ~6×).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flat punch phủ gần hết gel; cylinder chậm (~30 s/frame).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181818"/>
                </a:solidFill>
                <a:latin typeface="Calibri"/>
              </a:rPr>
              <a:t>• mesh (UsdFileCfg) đã wire nhưng chưa test (cần file USD).</a:t>
            </a:r>
          </a:p>
        </p:txBody>
      </p:sp>
      <p:pic>
        <p:nvPicPr>
          <p:cNvPr id="6" name="Picture 5" descr="object_geometry_s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4389120" cy="28360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7 · PHÁT HIỆN XUYÊN SUỐT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Trần tiếp tuyến ~0.15 / 14° — 8 đòn bẩy đều âm tính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Đòn bẩy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Kết quả</a:t>
                      </a:r>
                    </a:p>
                  </a:txBody>
                  <a:tcPr marT="25400" marB="25400">
                    <a:solidFill>
                      <a:srgbClr val="1E469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Data-scaling 200→1600 frame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bão hòa ~1600 (gấp đôi chỉ mua ~0.01)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Model capacity (3× params)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0.146→0.151 (không giúp)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Lưới mịn (res-24→res-32)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0.146→0.158 (không hạ)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Nhiều Fourier modes (12→16→20)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tệ hơn / lỗi (&gt;Nyquist)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Input: mớm trường Mindlin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NULL (hàm tất định của input)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Input: ranh giới sắc / U-Net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lợi nhỏ ~5% (vá phần FNO làm trơn)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Lịch sử tải (6c)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50">
                          <a:solidFill>
                            <a:srgbClr val="181818"/>
                          </a:solidFill>
                          <a:latin typeface="Calibri"/>
                        </a:rPr>
                        <a:t>NULL (chỉ phụ thuộc endpoint)</a:t>
                      </a:r>
                    </a:p>
                  </a:txBody>
                  <a:tcPr marT="12700" marB="12700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5A5A5A"/>
                </a:solidFill>
                <a:latin typeface="Calibri"/>
              </a:rPr>
              <a:t>Trần = (1) sắc-nhưng-FNO-trơn (~5%, vá nhỏ) + (2) bất khả giảm từ tham số macro (phần lớn). KHÔNG do GT/mesh/model. Pháp tuyến đã hội tụ tốt.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8 · HẠN CHẾ &amp; TRUNG THỰC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Ghi rõ để không overclaim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Env single-step:</a:t>
            </a:r>
            <a:r>
              <a:rPr b="0" sz="1600">
                <a:solidFill>
                  <a:srgbClr val="181818"/>
                </a:solidFill>
                <a:latin typeface="Calibri"/>
              </a:rPr>
              <a:t> FNO là map tĩnh → chưa mô phỏng động lực nhiều bước.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Tốc độ không phải lợi thế bền:</a:t>
            </a:r>
            <a:r>
              <a:rPr b="0" sz="1600">
                <a:solidFill>
                  <a:srgbClr val="181818"/>
                </a:solidFill>
                <a:latin typeface="Calibri"/>
              </a:rPr>
              <a:t> sim vật lý GPU (Taccel) throughput vượt FNO; lợi thế = latency + khả-vi + nhẹ-HW + mesh-free.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Lợi thế vs SOTA hẹp:</a:t>
            </a:r>
            <a:r>
              <a:rPr b="0" sz="1600">
                <a:solidFill>
                  <a:srgbClr val="181818"/>
                </a:solidFill>
                <a:latin typeface="Calibri"/>
              </a:rPr>
              <a:t> U-Net ≈ ngang FNO.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Trần tiếp tuyến</a:t>
            </a:r>
            <a:r>
              <a:rPr b="0" sz="1600">
                <a:solidFill>
                  <a:srgbClr val="181818"/>
                </a:solidFill>
                <a:latin typeface="Calibri"/>
              </a:rPr>
              <a:t> không phá được bằng các đòn bẩy đã thử.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</a:t>
            </a:r>
            <a:r>
              <a:rPr b="1" sz="1600">
                <a:solidFill>
                  <a:srgbClr val="181818"/>
                </a:solidFill>
                <a:latin typeface="Calibri"/>
              </a:rPr>
              <a:t>Chưa có hardware:</a:t>
            </a:r>
            <a:r>
              <a:rPr b="0" sz="1600">
                <a:solidFill>
                  <a:srgbClr val="181818"/>
                </a:solidFill>
                <a:latin typeface="Calibri"/>
              </a:rPr>
              <a:t> calibration mới là schema; sim2real chưa đóng vòng.</a:t>
            </a:r>
          </a:p>
          <a:p>
            <a:pPr>
              <a:spcAft>
                <a:spcPts val="900"/>
              </a:spcAft>
            </a:pPr>
            <a:r>
              <a:rPr b="0" sz="1600">
                <a:solidFill>
                  <a:srgbClr val="181818"/>
                </a:solidFill>
                <a:latin typeface="Calibri"/>
              </a:rPr>
              <a:t>• Hình học mesh chưa test; một số kết quả single-seed cần xác nhận.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E6DB4"/>
                </a:solidFill>
                <a:latin typeface="Calibri"/>
              </a:rPr>
              <a:t>9 · FRAMEWORK &amp; LỘ TRÌNH</a:t>
            </a:r>
          </a:p>
          <a:p>
            <a:r>
              <a:rPr b="1" sz="2600">
                <a:solidFill>
                  <a:srgbClr val="1E4690"/>
                </a:solidFill>
                <a:latin typeface="Calibri"/>
              </a:rPr>
              <a:t>Trạng thái hiện tại + bước tiếp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64240" cy="1828800"/>
          </a:xfrm>
          <a:prstGeom prst="rect">
            <a:avLst/>
          </a:prstGeom>
          <a:solidFill>
            <a:srgbClr val="EEF2F8"/>
          </a:solidFill>
          <a:ln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/>
            <a:r>
              <a:rPr b="1" sz="1500">
                <a:solidFill>
                  <a:srgbClr val="1E4690"/>
                </a:solidFill>
                <a:latin typeface="Calibri"/>
              </a:rPr>
              <a:t>FRAMEWORK HIỆN CÓ (chạy ngay, pure-Python + GPU)</a:t>
            </a:r>
          </a:p>
          <a:p>
            <a:r>
              <a:rPr b="0" sz="1400">
                <a:solidFill>
                  <a:srgbClr val="181818"/>
                </a:solidFill>
                <a:latin typeface="Calibri"/>
              </a:rPr>
              <a:t>reset() / step() / differentiable_step()  ← tactile_env.py (6a)</a:t>
            </a:r>
          </a:p>
          <a:p>
            <a:r>
              <a:rPr b="0" sz="1400">
                <a:solidFill>
                  <a:srgbClr val="181818"/>
                </a:solidFill>
                <a:latin typeface="Calibri"/>
              </a:rPr>
              <a:t>  ├─ FNO surrogate (đóng băng) · marker-dot sensor · camera noise + tracker · PolicyMLP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</a:t>
            </a:r>
            <a:r>
              <a:rPr b="1" sz="1500">
                <a:solidFill>
                  <a:srgbClr val="181818"/>
                </a:solidFill>
                <a:latin typeface="Calibri"/>
              </a:rPr>
              <a:t>1. Env Isaac-Sim thật</a:t>
            </a:r>
            <a:r>
              <a:rPr b="0" sz="1500">
                <a:solidFill>
                  <a:srgbClr val="181818"/>
                </a:solidFill>
                <a:latin typeface="Calibri"/>
              </a:rPr>
              <a:t> với robot gắn cảm biến — FNO làm lõi nhanh trong vòng điều khiển (mảnh lớn còn lại Nhánh A).</a:t>
            </a:r>
          </a:p>
          <a:p>
            <a:pPr>
              <a:spcAft>
                <a:spcPts val="8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</a:t>
            </a:r>
            <a:r>
              <a:rPr b="1" sz="1500">
                <a:solidFill>
                  <a:srgbClr val="181818"/>
                </a:solidFill>
                <a:latin typeface="Calibri"/>
              </a:rPr>
              <a:t>2. Multi-step dynamics</a:t>
            </a:r>
            <a:r>
              <a:rPr b="0" sz="1500">
                <a:solidFill>
                  <a:srgbClr val="181818"/>
                </a:solidFill>
                <a:latin typeface="Calibri"/>
              </a:rPr>
              <a:t> — nâng env nhiều bước (FNO có thời gian).</a:t>
            </a:r>
          </a:p>
          <a:p>
            <a:pPr>
              <a:spcAft>
                <a:spcPts val="8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</a:t>
            </a:r>
            <a:r>
              <a:rPr b="1" sz="1500">
                <a:solidFill>
                  <a:srgbClr val="181818"/>
                </a:solidFill>
                <a:latin typeface="Calibri"/>
              </a:rPr>
              <a:t>3. Sim2real</a:t>
            </a:r>
            <a:r>
              <a:rPr b="0" sz="1500">
                <a:solidFill>
                  <a:srgbClr val="181818"/>
                </a:solidFill>
                <a:latin typeface="Calibri"/>
              </a:rPr>
              <a:t> — dựng cảm biến DIY, fit SensorCalib, fine-tune FNO trên dữ liệu thật.</a:t>
            </a:r>
          </a:p>
          <a:p>
            <a:pPr>
              <a:spcAft>
                <a:spcPts val="800"/>
              </a:spcAft>
            </a:pPr>
            <a:r>
              <a:rPr b="0" sz="1500">
                <a:solidFill>
                  <a:srgbClr val="181818"/>
                </a:solidFill>
                <a:latin typeface="Calibri"/>
              </a:rPr>
              <a:t>• </a:t>
            </a:r>
            <a:r>
              <a:rPr b="1" sz="1500">
                <a:solidFill>
                  <a:srgbClr val="181818"/>
                </a:solidFill>
                <a:latin typeface="Calibri"/>
              </a:rPr>
              <a:t>4. Hình học mesh</a:t>
            </a:r>
            <a:r>
              <a:rPr b="0" sz="1500">
                <a:solidFill>
                  <a:srgbClr val="181818"/>
                </a:solidFill>
                <a:latin typeface="Calibri"/>
              </a:rPr>
              <a:t> vật thật (file USD).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  <a:latin typeface="Calibri"/>
              </a:rPr>
              <a:t>Một mô phỏng VBTS khả vi, dùng được</a:t>
            </a:r>
          </a:p>
          <a:p>
            <a:pPr>
              <a:spcBef>
                <a:spcPts val="1400"/>
              </a:spcBef>
            </a:pPr>
            <a:r>
              <a:rPr b="0" sz="1700">
                <a:solidFill>
                  <a:srgbClr val="D8E2F2"/>
                </a:solidFill>
                <a:latin typeface="Calibri"/>
              </a:rPr>
              <a:t>Fidelity-cỡ-FEM · khả vi end-to-end · nhẹ phần cứng · mesh-free — sẵn sàng cho điều khiển/RL và sim2real.</a:t>
            </a:r>
          </a:p>
          <a:p>
            <a:pPr>
              <a:spcBef>
                <a:spcPts val="1800"/>
              </a:spcBef>
            </a:pPr>
            <a:r>
              <a:rPr b="0" sz="1400">
                <a:solidFill>
                  <a:srgbClr val="C4D4EC"/>
                </a:solidFill>
                <a:latin typeface="Calibri"/>
              </a:rPr>
              <a:t>Chi tiết: docs/bao_cao_tong_ket_phase3-6.md (+ PDF)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